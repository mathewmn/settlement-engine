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1caef540fd435f" /><Relationship Type="http://schemas.openxmlformats.org/officeDocument/2006/relationships/extended-properties" Target="/docProps/app.xml" Id="R96c8ceaf614143c9" /><Relationship Type="http://schemas.openxmlformats.org/officeDocument/2006/relationships/officeDocument" Target="/ppt/presentation.xml" Id="R7770a2525d3042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1e8b8ef9c24030"/>
  </p:sldMasterIdLst>
  <p:notesMasterIdLst>
    <p:notesMasterId xmlns:r="http://schemas.openxmlformats.org/officeDocument/2006/relationships" r:id="R01de05dc2610446a"/>
  </p:notesMasterIdLst>
  <p:sldIdLst>
    <p:sldId xmlns:r="http://schemas.openxmlformats.org/officeDocument/2006/relationships" id="256" r:id="R79aba9b5e25646f2"/>
    <p:sldId xmlns:r="http://schemas.openxmlformats.org/officeDocument/2006/relationships" id="257" r:id="Rf0d3160decbb40f0"/>
    <p:sldId xmlns:r="http://schemas.openxmlformats.org/officeDocument/2006/relationships" id="258" r:id="R446286346a034402"/>
    <p:sldId xmlns:r="http://schemas.openxmlformats.org/officeDocument/2006/relationships" id="259" r:id="Raa5da70f5b3d48f4"/>
    <p:sldId xmlns:r="http://schemas.openxmlformats.org/officeDocument/2006/relationships" id="260" r:id="Ra6ca054446774070"/>
    <p:sldId xmlns:r="http://schemas.openxmlformats.org/officeDocument/2006/relationships" id="261" r:id="R178ae30fe6d44e65"/>
    <p:sldId xmlns:r="http://schemas.openxmlformats.org/officeDocument/2006/relationships" id="262" r:id="R67cf6f396a544aa7"/>
    <p:sldId xmlns:r="http://schemas.openxmlformats.org/officeDocument/2006/relationships" id="263" r:id="R31baa70c91754e09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541ca2971248bf" /><Relationship Type="http://schemas.openxmlformats.org/officeDocument/2006/relationships/slideMaster" Target="/ppt/slideMasters/slideMaster1.xml" Id="R681e8b8ef9c24030" /><Relationship Type="http://schemas.openxmlformats.org/officeDocument/2006/relationships/notesMaster" Target="/ppt/notesMasters/notesMaster1.xml" Id="R01de05dc2610446a" /><Relationship Type="http://schemas.openxmlformats.org/officeDocument/2006/relationships/presProps" Target="/ppt/presProps.xml" Id="R3222c8bc689141ef" /><Relationship Type="http://schemas.openxmlformats.org/officeDocument/2006/relationships/viewProps" Target="/ppt/viewProps.xml" Id="Rd3b4e026dabc4bab" /><Relationship Type="http://schemas.openxmlformats.org/officeDocument/2006/relationships/tableStyles" Target="/ppt/tableStyles.xml" Id="R47ddfb797afd42b6" /><Relationship Type="http://schemas.openxmlformats.org/officeDocument/2006/relationships/slide" Target="/ppt/slides/slide1.xml" Id="R79aba9b5e25646f2" /><Relationship Type="http://schemas.openxmlformats.org/officeDocument/2006/relationships/slide" Target="/ppt/slides/slide2.xml" Id="Rf0d3160decbb40f0" /><Relationship Type="http://schemas.openxmlformats.org/officeDocument/2006/relationships/slide" Target="/ppt/slides/slide3.xml" Id="R446286346a034402" /><Relationship Type="http://schemas.openxmlformats.org/officeDocument/2006/relationships/slide" Target="/ppt/slides/slide4.xml" Id="Raa5da70f5b3d48f4" /><Relationship Type="http://schemas.openxmlformats.org/officeDocument/2006/relationships/slide" Target="/ppt/slides/slide5.xml" Id="Ra6ca054446774070" /><Relationship Type="http://schemas.openxmlformats.org/officeDocument/2006/relationships/slide" Target="/ppt/slides/slide6.xml" Id="R178ae30fe6d44e65" /><Relationship Type="http://schemas.openxmlformats.org/officeDocument/2006/relationships/slide" Target="/ppt/slides/slide7.xml" Id="R67cf6f396a544aa7" /><Relationship Type="http://schemas.openxmlformats.org/officeDocument/2006/relationships/slide" Target="/ppt/slides/slide8.xml" Id="R31baa70c91754e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a3d77c066346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07fd34b6e24c17" /><Relationship Type="http://schemas.openxmlformats.org/officeDocument/2006/relationships/notesMaster" Target="/ppt/notesMasters/notesMaster1.xml" Id="R513e0e508dab48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bd5d48d3964b35" /><Relationship Type="http://schemas.openxmlformats.org/officeDocument/2006/relationships/notesMaster" Target="/ppt/notesMasters/notesMaster1.xml" Id="Rc4b0747510794e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f34d3c5de14a14" /><Relationship Type="http://schemas.openxmlformats.org/officeDocument/2006/relationships/notesMaster" Target="/ppt/notesMasters/notesMaster1.xml" Id="Rc42e47d6776b4c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84a0356bc4416a" /><Relationship Type="http://schemas.openxmlformats.org/officeDocument/2006/relationships/notesMaster" Target="/ppt/notesMasters/notesMaster1.xml" Id="Rf928222713fd46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32376d94bc477f" /><Relationship Type="http://schemas.openxmlformats.org/officeDocument/2006/relationships/notesMaster" Target="/ppt/notesMasters/notesMaster1.xml" Id="Rbee3bfbc83a549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0336c4de254e5a" /><Relationship Type="http://schemas.openxmlformats.org/officeDocument/2006/relationships/notesMaster" Target="/ppt/notesMasters/notesMaster1.xml" Id="R1e246ed5f99745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a888041cca434f" /><Relationship Type="http://schemas.openxmlformats.org/officeDocument/2006/relationships/notesMaster" Target="/ppt/notesMasters/notesMaster1.xml" Id="R088e7f88d5d046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508c81a704494f" /><Relationship Type="http://schemas.openxmlformats.org/officeDocument/2006/relationships/notesMaster" Target="/ppt/notesMasters/notesMaster1.xml" Id="R259af10cb09e45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416fe4a9842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26b06226449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6210d31fa40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91d83ac4c42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e02bd95da49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9ef842cab4b4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56af3243c40c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6807848dd44a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89b70f7314e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ae69ecbec444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1dc1ec9ca4d7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46E6EC-65C2-4FE9-A012-C03E2FE97CA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B03F87E-904B-4FA2-B044-452F2AC158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4C58CD-39D3-461D-8769-4423DEEDAC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1FBC18-D688-4D9E-94E7-916C884D7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D5F0A7-9154-4333-BC47-6D29EFB94C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B72D88-ABFC-400F-9DFC-1D24E942E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31A8C80-A154-4D98-AB2F-7F6B2639D3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216B5A-87B1-4130-984B-8DB545815B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0E6CB2-B062-477C-B365-BDADDDE336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B38A89-B5C9-4290-9EE6-6FE9482F23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DF4157-5D73-40A4-9BE9-2597AB6BB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FD749F-6EC1-40F9-BDAA-F89D8F399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D8C657-78D0-4F30-A0E4-0596885E6A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05D989-40BC-4A7B-9690-457D88A66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665317-713A-4325-96CD-B560884B19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400F64-1FB0-46E1-927D-8D84E28AD9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86FA6E-5460-49C6-962A-4013E9A4A2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C180946-6B7A-4064-9418-11BCDD6382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67B5D9E-0D2F-40C6-8935-E2B9B43275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86AFAD1-5322-4C4D-84F5-C920AA4468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1491355-B8AC-41C8-867A-6E296DC8EA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A8AF46-697C-4EE5-8325-04F16160A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7D74C44-4CDC-4D93-B9C2-405A83FD4D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5E3739A-AF95-4EDD-B66D-98EBBDD15A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A57B6BA-4498-473E-AA22-BDBBD12621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004139F-6B48-480B-AF64-E95B5ABC433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4D39C88-BC54-4BEB-9B53-F3657F050B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7276376-B1F1-4F61-82A7-C2F8FB11E2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C7007B4-B323-430C-A0E2-8B1BA254D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12806D-3E8F-440F-B70B-8D6BA33E1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8A08DCC-F181-4ABF-B453-B648D99D67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86AE8E3-B12D-42B6-9ACA-7739B70421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7EDE8F2-5630-4E81-B452-8D09A5B1D2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1D6CD28-380F-492E-B5EE-CB049C562B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1A2228A-C4BF-41F1-9B49-75DC1711C7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259B00B-3EB7-4825-BFBE-3179445916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A756A8-7638-4A84-8F2C-1D0E85AB7F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47164ED-FFE0-47C4-8575-6B3A5CC914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EF104D4-0912-4FC7-AE01-74799C0A46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A59EAB-1141-439E-B7BF-2545526DDA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89F22B-A032-464E-8310-7AF7BC7110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E36E575-5BC8-4CC0-BEAF-6943384E68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1E0534-6404-465B-B68E-4D829191B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5260B0F-691E-4D9A-AB46-35D95152D91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35A42A5-1271-458A-B710-AB5C78B240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EE16788-B83F-4171-B114-05A789ED45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74046CE-2821-427F-B3E1-62737767B0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2378E5-D0E0-4C93-9FCE-6285C9825B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7C1BF9-BDA2-4942-B9D4-BE01016D6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A17D19-6260-4113-B550-0354579A8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79FAE2-7577-4D41-B93C-0F5259E9FE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DC1BC2-37BC-4BDB-99E9-CA6C6496A6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D5AE62-294D-4A9B-AB51-746C0DB4A7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66C5E9-2BE3-4244-B08B-066F39B95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403C2A-0EB0-431C-B847-2B7D39162C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0BF11C-EBA3-4214-82DA-73F786830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ECC343-97A8-4693-93EE-4E5D2F0118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46F7C7-EC5E-45FA-8727-6BEC528095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756fbb9cc74bed" /><Relationship Type="http://schemas.openxmlformats.org/officeDocument/2006/relationships/slideLayout" Target="/ppt/slideLayouts/slideLayout1.xml" Id="R4ccc6a2c2faa4fe9" /><Relationship Type="http://schemas.openxmlformats.org/officeDocument/2006/relationships/slideLayout" Target="/ppt/slideLayouts/slideLayout2.xml" Id="R3ebae8bd1f1b4f8f" /><Relationship Type="http://schemas.openxmlformats.org/officeDocument/2006/relationships/slideLayout" Target="/ppt/slideLayouts/slideLayout3.xml" Id="R4edc5c2e3b554120" /><Relationship Type="http://schemas.openxmlformats.org/officeDocument/2006/relationships/slideLayout" Target="/ppt/slideLayouts/slideLayout4.xml" Id="R0ac7b8ea416f4638" /><Relationship Type="http://schemas.openxmlformats.org/officeDocument/2006/relationships/slideLayout" Target="/ppt/slideLayouts/slideLayout5.xml" Id="Rb2fa4e4b0a86490b" /><Relationship Type="http://schemas.openxmlformats.org/officeDocument/2006/relationships/slideLayout" Target="/ppt/slideLayouts/slideLayout6.xml" Id="Rae0c8aba1f8241e6" /><Relationship Type="http://schemas.openxmlformats.org/officeDocument/2006/relationships/slideLayout" Target="/ppt/slideLayouts/slideLayout7.xml" Id="Rce633212449d4c3b" /><Relationship Type="http://schemas.openxmlformats.org/officeDocument/2006/relationships/slideLayout" Target="/ppt/slideLayouts/slideLayout8.xml" Id="R277eaef0f1f745ee" /><Relationship Type="http://schemas.openxmlformats.org/officeDocument/2006/relationships/slideLayout" Target="/ppt/slideLayouts/slideLayout9.xml" Id="R9f6e2d6b749842ad" /><Relationship Type="http://schemas.openxmlformats.org/officeDocument/2006/relationships/slideLayout" Target="/ppt/slideLayouts/slideLayout10.xml" Id="R8838bf9297e24b36" /><Relationship Type="http://schemas.openxmlformats.org/officeDocument/2006/relationships/slideLayout" Target="/ppt/slideLayouts/slideLayout11.xml" Id="Rc15b43d0055f4c9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33BE3F1-9E41-4ED0-89EF-4CB8B1DD6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8ED556-4770-4424-B4F1-592930F772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B276D0-9AE8-4C4C-9192-3949795EAE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55634D-9AD2-46CC-8E2A-8D0BCDEDF85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CDA838-9FE3-42D6-9C73-240A9C41D1B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cc6a2c2faa4fe9"/>
    <p:sldLayoutId xmlns:r="http://schemas.openxmlformats.org/officeDocument/2006/relationships" id="2147483650" r:id="R3ebae8bd1f1b4f8f"/>
    <p:sldLayoutId xmlns:r="http://schemas.openxmlformats.org/officeDocument/2006/relationships" id="2147483651" r:id="R4edc5c2e3b554120"/>
    <p:sldLayoutId xmlns:r="http://schemas.openxmlformats.org/officeDocument/2006/relationships" id="2147483652" r:id="R0ac7b8ea416f4638"/>
    <p:sldLayoutId xmlns:r="http://schemas.openxmlformats.org/officeDocument/2006/relationships" id="2147483653" r:id="Rb2fa4e4b0a86490b"/>
    <p:sldLayoutId xmlns:r="http://schemas.openxmlformats.org/officeDocument/2006/relationships" id="2147483654" r:id="Rae0c8aba1f8241e6"/>
    <p:sldLayoutId xmlns:r="http://schemas.openxmlformats.org/officeDocument/2006/relationships" id="2147483655" r:id="Rce633212449d4c3b"/>
    <p:sldLayoutId xmlns:r="http://schemas.openxmlformats.org/officeDocument/2006/relationships" id="2147483656" r:id="R277eaef0f1f745ee"/>
    <p:sldLayoutId xmlns:r="http://schemas.openxmlformats.org/officeDocument/2006/relationships" id="2147483657" r:id="R9f6e2d6b749842ad"/>
    <p:sldLayoutId xmlns:r="http://schemas.openxmlformats.org/officeDocument/2006/relationships" id="2147483658" r:id="R8838bf9297e24b36"/>
    <p:sldLayoutId xmlns:r="http://schemas.openxmlformats.org/officeDocument/2006/relationships" id="2147483659" r:id="Rc15b43d0055f4c9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e4d1929c594c6e" /><Relationship Type="http://schemas.openxmlformats.org/officeDocument/2006/relationships/notesSlide" Target="/ppt/notesSlides/notesSlide1.xml" Id="R71a7034ac0484e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9018402bc44fb4" /><Relationship Type="http://schemas.openxmlformats.org/officeDocument/2006/relationships/notesSlide" Target="/ppt/notesSlides/notesSlide2.xml" Id="R370538d96ceb46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84bb2fff22461d" /><Relationship Type="http://schemas.openxmlformats.org/officeDocument/2006/relationships/notesSlide" Target="/ppt/notesSlides/notesSlide3.xml" Id="R0445f8336a8a4d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31929795d549ad" /><Relationship Type="http://schemas.openxmlformats.org/officeDocument/2006/relationships/notesSlide" Target="/ppt/notesSlides/notesSlide4.xml" Id="Rd5bb1105ea4e49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e2577625a942fa" /><Relationship Type="http://schemas.openxmlformats.org/officeDocument/2006/relationships/notesSlide" Target="/ppt/notesSlides/notesSlide5.xml" Id="Rabf5fa06e55f46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038106c8b74e53" /><Relationship Type="http://schemas.openxmlformats.org/officeDocument/2006/relationships/notesSlide" Target="/ppt/notesSlides/notesSlide6.xml" Id="R98fd7d52bdfd4c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f69b2becb345e7" /><Relationship Type="http://schemas.openxmlformats.org/officeDocument/2006/relationships/notesSlide" Target="/ppt/notesSlides/notesSlide7.xml" Id="Rccb7aa48eb6f4d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f32f29415f4863" /><Relationship Type="http://schemas.openxmlformats.org/officeDocument/2006/relationships/notesSlide" Target="/ppt/notesSlides/notesSlide8.xml" Id="R6b77b76029a741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51AD21-2CB2-4485-8046-579B5502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CC9AE64-FBE4-4017-992D-539D9852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097280"/>
            <a:ext cx="9997135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25400">
            <a:solidFill>
              <a:srgbClr val="0EA5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BA7784-6217-4279-9714-21F9621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645920"/>
            <a:ext cx="9265615" cy="1889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  <a:defRPr sz="3600" b="1">
                <a:solidFill>
                  <a:srgbClr val="F8FAFC"/>
                </a:solidFill>
              </a:defRPr>
            </a:pPr>
            <a:r>
              <a:t>SETTLEMENT ENGINE</a:t>
            </a:r>
          </a:p>
          <a:p xmlns:a="http://schemas.openxmlformats.org/drawingml/2006/main">
            <a:pPr>
              <a:spcAft>
                <a:spcPts val="2400"/>
              </a:spcAft>
              <a:buNone/>
              <a:defRPr sz="1800">
                <a:solidFill>
                  <a:srgbClr val="0EA5E9"/>
                </a:solidFill>
              </a:defRPr>
            </a:pPr>
            <a:r>
              <a:t>Java transaction and event delivery portfolio</a:t>
            </a:r>
          </a:p>
          <a:p xmlns:a="http://schemas.openxmlformats.org/drawingml/2006/main">
            <a:pPr>
              <a:buNone/>
              <a:defRPr sz="1300">
                <a:solidFill>
                  <a:srgbClr val="CBD5E1"/>
                </a:solidFill>
              </a:defRPr>
            </a:pPr>
            <a:r>
              <a:t>Architecture and implementation overview</a:t>
            </a:r>
            <a:br/>
            <a:r>
              <a:t>Application focus: Junior Java / Backend</a:t>
            </a:r>
            <a:br/>
            <a:r>
              <a:t>Java 21, Spring Boot, PostgreSQL, Kafka, Flyway</a:t>
            </a:r>
          </a:p>
        </p:txBody>
      </p:sp>
    </p:spTree>
    <p:extLst>
      <p:ext uri="{BB962C8B-B14F-4D97-AF65-F5344CB8AC3E}">
        <p14:creationId xmlns:p14="http://schemas.microsoft.com/office/powerpoint/2010/main" val="17783318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81B03F-5007-4E7D-8E30-36DD2D5A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B9B3432-1830-49BC-A608-E8DEF394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0EA5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EA5E9"/>
                </a:solidFill>
              </a:defRPr>
            </a:pPr>
            <a:r>
              <a:t>PROJECT PURPOSE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E8D427-9BA8-445C-A8BA-C859D372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8FAFC"/>
                </a:solidFill>
              </a:defRPr>
            </a:pPr>
            <a:r>
              <a:t>Transaction creation with an Outbox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4EF16D2-CCAB-438E-AFA2-ED67985C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32918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557AE6-72A9-47F5-9641-2D2A5A69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2926080" cy="142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Portfolio scope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An API creates a pending settlement record.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same database transaction stores an event in the Outbox.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This demo does not transfer funds or certify SEPA compliance.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BD3BA37-0629-408B-9FCF-1CF63207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2918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F3D615-277D-48C5-B161-386B0AC8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93392"/>
            <a:ext cx="2926080" cy="159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Failure scenarios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Separate database and broker writes can diverge after a crash.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Client retries can create duplicate transactions.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Broker failures require retryable pending events.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89298CB-BBD8-4569-8056-08B3AA2B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3832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DA3993A-CDE6-44C8-BF2C-100A6DE6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3392"/>
            <a:ext cx="3017520" cy="159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Implemented decisions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local database transaction includes the record and event.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PostgreSQL transaction locks serialize the same request key.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poller delivers with at-least-once semantics.</a:t>
            </a:r>
          </a:p>
        </p:txBody>
      </p:sp>
    </p:spTree>
    <p:extLst>
      <p:ext uri="{BB962C8B-B14F-4D97-AF65-F5344CB8AC3E}">
        <p14:creationId xmlns:p14="http://schemas.microsoft.com/office/powerpoint/2010/main" val="16194572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3DAA0C-58ED-4475-8B9B-4F150190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56B8704-1B7F-456F-A034-EB34A6FC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0EA5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EA5E9"/>
                </a:solidFill>
              </a:defRPr>
            </a:pPr>
            <a:r>
              <a:t>PORTS AND ADAPTERS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AD7C7C2-8E90-48E9-87C8-C0A4DFE3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8FAFC"/>
                </a:solidFill>
              </a:defRPr>
            </a:pPr>
            <a:r>
              <a:t>Domain boundaries and infrastructure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D835183-F2D2-4750-A6C7-1559799B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4F6468F-CE60-420C-B76C-0D30AF04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475488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Domain model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SettlementTransaction defines allowed state transitions.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Money validates positive amounts, precision and ISO currency.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Repository and idempotency lock ports define infrastructure needs.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ArchUnit checks domain independence from Spring and adapters.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176F7CC-6201-449E-BFED-A2D98DE6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2120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EC61C56-CD3E-476F-AB1F-6138F7D4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3392"/>
            <a:ext cx="484632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Adapters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JPA repositories persist transactions and Outbox rows.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JpaOutboxWriter records an event without publishing it.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PostgresIdempotencyLock holds a lock until transaction completion.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REST layer validates input and returns structured errors.</a:t>
            </a:r>
          </a:p>
        </p:txBody>
      </p:sp>
    </p:spTree>
    <p:extLst>
      <p:ext uri="{BB962C8B-B14F-4D97-AF65-F5344CB8AC3E}">
        <p14:creationId xmlns:p14="http://schemas.microsoft.com/office/powerpoint/2010/main" val="1654092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C2690A-8BF0-470C-B218-E236ECBA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C5BDEE7-A073-4608-BCFA-2A4F2863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0EA5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EA5E9"/>
                </a:solidFill>
              </a:defRPr>
            </a:pPr>
            <a:r>
              <a:t>EVENT DELIVERY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CC79DDA-709F-4F63-800C-96A24F32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8FAFC"/>
                </a:solidFill>
              </a:defRPr>
            </a:pPr>
            <a:r>
              <a:t>Outbox persistence and dispatch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B1E0D64-0CA0-44ED-A1D9-5D4E6EBA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32918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1A9C25-3009-49B7-B046-46A3449F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2926080" cy="142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1. Local commit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use case saves the transaction and event together.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rollback removes both writes.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Flyway defines the initial schema and indexes.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1851BBC-DF23-4F61-A990-F8AB9255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2918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0B04846-2B13-4F0C-B48E-766FA433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93392"/>
            <a:ext cx="2926080" cy="159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2. Locked polling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poller selects a bounded batch with FOR UPDATE SKIP LOCKED.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Rows remain locked while the producer waits for acknowledgement.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event ID accompanies each message in a Kafka header.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A550E82-82C4-47D8-B635-16279506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3832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61FE87-EC8C-4319-B140-EE765BC6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3392"/>
            <a:ext cx="3017520" cy="159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3. Retry and deduplication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An acknowledged event becomes processed in the database.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failed send leaves the event pending for another poll.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crash after acknowledgement can redeliver the same event ID.</a:t>
            </a:r>
          </a:p>
        </p:txBody>
      </p:sp>
    </p:spTree>
    <p:extLst>
      <p:ext uri="{BB962C8B-B14F-4D97-AF65-F5344CB8AC3E}">
        <p14:creationId xmlns:p14="http://schemas.microsoft.com/office/powerpoint/2010/main" val="11856213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AE4F5A-C7C4-453B-8CC0-35FAD60E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F3E663C-072E-4D64-940F-D33EB20A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0EA5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EA5E9"/>
                </a:solidFill>
              </a:defRPr>
            </a:pPr>
            <a:r>
              <a:t>REQUEST IDEMPOTENCY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4DFFF1F-71B7-46D6-9C67-BCBCF476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8FAFC"/>
                </a:solidFill>
              </a:defRPr>
            </a:pPr>
            <a:r>
              <a:t>Replay and conflicting request handling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9E398FC-A5BF-4BA2-B50B-AA22AA35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570ED8-87AC-482A-BA5A-C06039A8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475488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Same-key concurrency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API requires an Idempotency-Key of up to 128 characters.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PostgreSQL advisory lock serializes processing for that key.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unique database constraint provides an additional safeguard.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An identical replay returns the existing transaction.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A2DA0E9-7145-412D-9E90-C95CF92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2120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3A57526-9DB1-42D8-B5A8-80C7E0FE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3392"/>
            <a:ext cx="484632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Payload conflicts and limits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use case compares accounts, amount and currency on replay.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different payload with the same key returns HTTP 409.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lock lasts for the database transaction.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No measured throughput or latency target is claimed.</a:t>
            </a:r>
          </a:p>
        </p:txBody>
      </p:sp>
    </p:spTree>
    <p:extLst>
      <p:ext uri="{BB962C8B-B14F-4D97-AF65-F5344CB8AC3E}">
        <p14:creationId xmlns:p14="http://schemas.microsoft.com/office/powerpoint/2010/main" val="18833439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7887B9-47A7-4B54-BD01-3B378BA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7648E36-FBA7-47D8-BA4B-51A5D1BD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0EA5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EA5E9"/>
                </a:solidFill>
              </a:defRPr>
            </a:pPr>
            <a:r>
              <a:t>VERIFICATION STRATEGY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747FEDB-E352-405E-B094-FABA31CD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8FAFC"/>
                </a:solidFill>
              </a:defRPr>
            </a:pPr>
            <a:r>
              <a:t>Unit tests and database integration tests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08CCF04-87B8-4BD9-82A5-2D51CF79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F070EC-5E87-4D7A-8522-8ECDBDFE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475488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Testcontainers integration suite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Real PostgreSQL provides the migrated database schema.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Tests cover replay and eight simultaneous duplicate requests.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failing Outbox constraint checks transaction rollback.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Docker is required to run this suite with Maven verify.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86D8086-7E06-4FD8-B536-44ACF5C1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2120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A811121-B36B-42B2-BB0D-C0CD9891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3392"/>
            <a:ext cx="484632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Unit and architecture checks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Money tests cover invalid amounts, precision and currency.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Use-case tests cover replay, conflict and event creation.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Poller tests cover successful acknowledgement and retryable failure.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ArchUnit checks the domain boundary without starting Spring.</a:t>
            </a:r>
          </a:p>
        </p:txBody>
      </p:sp>
    </p:spTree>
    <p:extLst>
      <p:ext uri="{BB962C8B-B14F-4D97-AF65-F5344CB8AC3E}">
        <p14:creationId xmlns:p14="http://schemas.microsoft.com/office/powerpoint/2010/main" val="4749625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C20645-9110-4784-B99B-C8841A85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62B8867-1215-4DA8-A530-F42FD1E3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0EA5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EA5E9"/>
                </a:solidFill>
              </a:defRPr>
            </a:pPr>
            <a:r>
              <a:t>LOCAL DEPLOYMENT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E6B838-43C4-4BD6-B1E8-2E9A526C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8FAFC"/>
                </a:solidFill>
              </a:defRPr>
            </a:pPr>
            <a:r>
              <a:t>Docker Compose and service metrics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2CFC9D1-BBD6-4023-90DD-F9ADA8B6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32918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8BF0D80-F831-4B28-A5E6-7BE78819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2926080" cy="159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Observability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Actuator exposes health and Prometheus endpoints.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supplied Prometheus configuration targets the app service.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Custom latency meters and Grafana dashboards remain future work.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8DE725-34A8-4F97-9A7E-DB2F18B8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2918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6233BD0-70F5-43D3-B03D-901B7BB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93392"/>
            <a:ext cx="2926080" cy="142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Operational limits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No OpenTelemetry pipeline is included.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No event consumer or automated deduplication store is included.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Outbox retention, retry backoff and dead-letter handling need design.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59B04EB-ADB7-4E33-88D5-7E4E06F0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3832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05D9179-F0F3-4FC5-BCA3-5964D3A5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3392"/>
            <a:ext cx="3017520" cy="159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0EA5E9"/>
                </a:solidFill>
              </a:defRPr>
            </a:pPr>
            <a:r>
              <a:t>Local containers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 multi-stage Dockerfile builds the application with Java 21.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Compose starts the app, PostgreSQL, Kafka and Prometheus.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The supplied credentials and topology are for local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21459325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34A7542-8659-42A9-B736-BA28CCF0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46C25A7-6D56-4DCD-982F-850F9F04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"/>
            <a:ext cx="41148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0EA5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000" b="1">
                <a:solidFill>
                  <a:srgbClr val="0EA5E9"/>
                </a:solidFill>
              </a:defRPr>
            </a:pPr>
            <a:r>
              <a:t>INTERVIEW DISCUSSION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A4E0111-D947-41A3-BD2E-BC48E854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1069848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00" b="1">
                <a:solidFill>
                  <a:srgbClr val="F8FAFC"/>
                </a:solidFill>
              </a:defRPr>
            </a:pPr>
            <a:r>
              <a:t>Reliability tradeoffs and next steps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9974F24-AB57-4B2A-B78C-DFD3767C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919B0CA-25E3-4A40-BE47-8AB59478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3392"/>
            <a:ext cx="4754880" cy="159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22C55E"/>
                </a:solidFill>
              </a:defRPr>
            </a:pPr>
            <a:r>
              <a:t>Questions to explain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Why use a transactional Outbox?</a:t>
            </a:r>
            <a:br/>
            <a:r>
              <a:t>It records event intent atomically with the business record.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What happens during broker failure?</a:t>
            </a:r>
            <a:br/>
            <a:r>
              <a:t>The transaction can commit while the event waits for another poll.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Can delivery duplicate an event?</a:t>
            </a:r>
            <a:br/>
            <a:r>
              <a:t>Yes. Consumers must deduplicate using the stable event ID.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145273D-B5DB-4398-81B9-8848880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28800"/>
            <a:ext cx="521208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524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0379791-97A9-4176-987A-FB1F0944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93392"/>
            <a:ext cx="4846320" cy="1330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  <a:defRPr sz="1400" b="1">
                <a:solidFill>
                  <a:srgbClr val="22C55E"/>
                </a:solidFill>
              </a:defRPr>
            </a:pPr>
            <a:r>
              <a:t>Further engineering work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Build a consumer with durable event-ID deduplication.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Introduce retry backoff, dead-letter handling and retention.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Add authentication and stronger account validation.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100">
                <a:solidFill>
                  <a:srgbClr val="CBD5E1"/>
                </a:solidFill>
              </a:defRPr>
            </a:pPr>
            <a:r>
              <a:t>Benchmark and review deployment before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19626425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2026-10-02T13:38:25.3360000Z</dcterms:created>
  <dcterms:modified xsi:type="dcterms:W3CDTF">2026-10-02T13:38:25.3360000Z</dcterms:modified>
</coreProperties>
</file>